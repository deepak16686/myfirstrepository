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377440"/>
            <a:ext cx="6400800" cy="38100"/>
          </a:xfrm>
          <a:prstGeom prst="rect">
            <a:avLst/>
          </a:prstGeom>
          <a:solidFill>
            <a:srgbClr val="38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14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AI-Powered DevOps Pipeline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46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Segoe UI"/>
              </a:defRPr>
            </a:pPr>
            <a:r>
              <a:t>Intelligent CI/CD Pipeline Generation with RAG + 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931920"/>
            <a:ext cx="1463040" cy="3657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C6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sz="1100" b="1">
                <a:solidFill>
                  <a:srgbClr val="FC6D26"/>
                </a:solidFill>
                <a:latin typeface="Segoe UI"/>
              </a:defRPr>
            </a:pPr>
            <a:r>
              <a:t>GitLab CI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3931920"/>
            <a:ext cx="1463040" cy="3657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D33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sz="1100" b="1">
                <a:solidFill>
                  <a:srgbClr val="D33C3E"/>
                </a:solidFill>
                <a:latin typeface="Segoe UI"/>
              </a:defRPr>
            </a:pPr>
            <a:r>
              <a:t>Jenkins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3931920"/>
            <a:ext cx="1463040" cy="3657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1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sz="1100" b="1">
                <a:solidFill>
                  <a:srgbClr val="2188FF"/>
                </a:solidFill>
                <a:latin typeface="Segoe UI"/>
              </a:defRPr>
            </a:pPr>
            <a:r>
              <a:t>GitHub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7548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9"/>
                </a:solidFill>
                <a:latin typeface="Segoe UI"/>
              </a:defRPr>
            </a:pPr>
            <a:r>
              <a:t>Demo Presentation  ·  February 2026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1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3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Segoe UI"/>
              </a:defRPr>
            </a:pPr>
            <a:r>
              <a:t>End-to-end intelligent pipeline generation across three CI/CD platforms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12700"/>
          </a:xfrm>
          <a:prstGeom prst="rect">
            <a:avLst/>
          </a:prstGeom>
          <a:solidFill>
            <a:srgbClr val="2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43200" cy="3474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C6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1554480"/>
            <a:ext cx="411480" cy="411480"/>
          </a:xfrm>
          <a:prstGeom prst="ellipse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727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C6D26"/>
                </a:solidFill>
                <a:latin typeface="Segoe UI"/>
              </a:defRPr>
            </a:pPr>
            <a:r>
              <a:t>GitLab CI/CD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FC6D26"/>
                </a:solidFill>
                <a:latin typeface="Segoe UI"/>
              </a:rPr>
              <a:t>▸ </a:t>
            </a:r>
            <a:r>
              <a:rPr sz="1100">
                <a:solidFill>
                  <a:srgbClr val="B0BCD4"/>
                </a:solidFill>
                <a:latin typeface="Segoe UI"/>
              </a:rPr>
              <a:t>9-stage .gitlab-ci.yml generation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C6D26"/>
                </a:solidFill>
                <a:latin typeface="Segoe UI"/>
              </a:rPr>
              <a:t>▸ </a:t>
            </a:r>
            <a:r>
              <a:rPr sz="1100">
                <a:solidFill>
                  <a:srgbClr val="B0BCD4"/>
                </a:solidFill>
                <a:latin typeface="Segoe UI"/>
              </a:rPr>
              <a:t>GitLab server integration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C6D26"/>
                </a:solidFill>
                <a:latin typeface="Segoe UI"/>
              </a:rPr>
              <a:t>▸ </a:t>
            </a:r>
            <a:r>
              <a:rPr sz="1100">
                <a:solidFill>
                  <a:srgbClr val="B0BCD4"/>
                </a:solidFill>
                <a:latin typeface="Segoe UI"/>
              </a:rPr>
              <a:t>Artifact &amp; cache management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C6D26"/>
                </a:solidFill>
                <a:latin typeface="Segoe UI"/>
              </a:rPr>
              <a:t>▸ </a:t>
            </a:r>
            <a:r>
              <a:rPr sz="1100">
                <a:solidFill>
                  <a:srgbClr val="B0BCD4"/>
                </a:solidFill>
                <a:latin typeface="Segoe UI"/>
              </a:rPr>
              <a:t>Docker-in-Docker pipelines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97680"/>
            <a:ext cx="237744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sz="900">
                <a:solidFill>
                  <a:srgbClr val="6B7B99"/>
                </a:solidFill>
                <a:latin typeface="Segoe UI"/>
              </a:defRPr>
            </a:pPr>
            <a:r>
              <a:t>13 repos  ·  13 templates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743200" cy="3474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D33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29000" y="1554480"/>
            <a:ext cx="411480" cy="411480"/>
          </a:xfrm>
          <a:prstGeom prst="ellipse">
            <a:avLst/>
          </a:prstGeom>
          <a:solidFill>
            <a:srgbClr val="D33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JK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5727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33C3E"/>
                </a:solidFill>
                <a:latin typeface="Segoe UI"/>
              </a:defRPr>
            </a:pPr>
            <a:r>
              <a:t>Jenkins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0574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D33C3E"/>
                </a:solidFill>
                <a:latin typeface="Segoe UI"/>
              </a:rPr>
              <a:t>▸ </a:t>
            </a:r>
            <a:r>
              <a:rPr sz="1100">
                <a:solidFill>
                  <a:srgbClr val="B0BCD4"/>
                </a:solidFill>
                <a:latin typeface="Segoe UI"/>
              </a:rPr>
              <a:t>9-stage Jenkinsfile generation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D33C3E"/>
                </a:solidFill>
                <a:latin typeface="Segoe UI"/>
              </a:rPr>
              <a:t>▸ </a:t>
            </a:r>
            <a:r>
              <a:rPr sz="1100">
                <a:solidFill>
                  <a:srgbClr val="B0BCD4"/>
                </a:solidFill>
                <a:latin typeface="Segoe UI"/>
              </a:rPr>
              <a:t>Multibranch pipeline support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D33C3E"/>
                </a:solidFill>
                <a:latin typeface="Segoe UI"/>
              </a:rPr>
              <a:t>▸ </a:t>
            </a:r>
            <a:r>
              <a:rPr sz="1100">
                <a:solidFill>
                  <a:srgbClr val="B0BCD4"/>
                </a:solidFill>
                <a:latin typeface="Segoe UI"/>
              </a:rPr>
              <a:t>Gitea SCM integration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D33C3E"/>
                </a:solidFill>
                <a:latin typeface="Segoe UI"/>
              </a:rPr>
              <a:t>▸ </a:t>
            </a:r>
            <a:r>
              <a:rPr sz="1100">
                <a:solidFill>
                  <a:srgbClr val="B0BCD4"/>
                </a:solidFill>
                <a:latin typeface="Segoe UI"/>
              </a:rPr>
              <a:t>Docker agent 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4297680"/>
            <a:ext cx="237744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sz="900">
                <a:solidFill>
                  <a:srgbClr val="6B7B99"/>
                </a:solidFill>
                <a:latin typeface="Segoe UI"/>
              </a:defRPr>
            </a:pPr>
            <a:r>
              <a:t>10 repos  ·  10 templates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743200" cy="3474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1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55080" y="1554480"/>
            <a:ext cx="411480" cy="411480"/>
          </a:xfrm>
          <a:prstGeom prst="ellipse">
            <a:avLst/>
          </a:prstGeom>
          <a:solidFill>
            <a:srgbClr val="21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727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88FF"/>
                </a:solidFill>
                <a:latin typeface="Segoe UI"/>
              </a:defRPr>
            </a:pPr>
            <a:r>
              <a:t>GitHub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0574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2188FF"/>
                </a:solidFill>
                <a:latin typeface="Segoe UI"/>
              </a:rPr>
              <a:t>▸ </a:t>
            </a:r>
            <a:r>
              <a:rPr sz="1100">
                <a:solidFill>
                  <a:srgbClr val="B0BCD4"/>
                </a:solidFill>
                <a:latin typeface="Segoe UI"/>
              </a:rPr>
              <a:t>10-job workflow YAML generation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188FF"/>
                </a:solidFill>
                <a:latin typeface="Segoe UI"/>
              </a:rPr>
              <a:t>▸ </a:t>
            </a:r>
            <a:r>
              <a:rPr sz="1100">
                <a:solidFill>
                  <a:srgbClr val="B0BCD4"/>
                </a:solidFill>
                <a:latin typeface="Segoe UI"/>
              </a:rPr>
              <a:t>Gitea Actions runner compatible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188FF"/>
                </a:solidFill>
                <a:latin typeface="Segoe UI"/>
              </a:rPr>
              <a:t>▸ </a:t>
            </a:r>
            <a:r>
              <a:rPr sz="1100">
                <a:solidFill>
                  <a:srgbClr val="B0BCD4"/>
                </a:solidFill>
                <a:latin typeface="Segoe UI"/>
              </a:rPr>
              <a:t>Multi-stage Dockerfile builds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188FF"/>
                </a:solidFill>
                <a:latin typeface="Segoe UI"/>
              </a:rPr>
              <a:t>▸ </a:t>
            </a:r>
            <a:r>
              <a:rPr sz="1100">
                <a:solidFill>
                  <a:srgbClr val="B0BCD4"/>
                </a:solidFill>
                <a:latin typeface="Segoe UI"/>
              </a:rPr>
              <a:t>Shell-based (no marketplace actions)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297680"/>
            <a:ext cx="237744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sz="900">
                <a:solidFill>
                  <a:srgbClr val="6B7B99"/>
                </a:solidFill>
                <a:latin typeface="Segoe UI"/>
              </a:defRPr>
            </a:pPr>
            <a:r>
              <a:t>10 repos  ·  10 templates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1463040" cy="6400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8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defRPr sz="900" b="1">
                <a:solidFill>
                  <a:srgbClr val="389FFF"/>
                </a:solidFill>
                <a:latin typeface="Segoe UI"/>
              </a:defRPr>
            </a:pPr>
            <a:r>
              <a:t>User</a:t>
            </a:r>
          </a:p>
          <a:p>
            <a:pPr algn="ctr">
              <a:defRPr sz="800" b="0">
                <a:solidFill>
                  <a:srgbClr val="B0BCD4"/>
                </a:solidFill>
                <a:latin typeface="Segoe UI"/>
              </a:defRPr>
            </a:pPr>
            <a:r>
              <a:t>Chat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3800" y="1325880"/>
            <a:ext cx="21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B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1188720"/>
            <a:ext cx="1463040" cy="6400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defRPr sz="900" b="1">
                <a:solidFill>
                  <a:srgbClr val="00D17A"/>
                </a:solidFill>
                <a:latin typeface="Segoe UI"/>
              </a:defRPr>
            </a:pPr>
            <a:r>
              <a:t>FastAPI</a:t>
            </a:r>
          </a:p>
          <a:p>
            <a:pPr algn="ctr">
              <a:defRPr sz="800" b="0">
                <a:solidFill>
                  <a:srgbClr val="B0BCD4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5440" y="1325880"/>
            <a:ext cx="21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B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40" y="1188720"/>
            <a:ext cx="1463040" cy="6400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defRPr sz="900" b="1">
                <a:solidFill>
                  <a:srgbClr val="A85CFF"/>
                </a:solidFill>
                <a:latin typeface="Segoe UI"/>
              </a:defRPr>
            </a:pPr>
            <a:r>
              <a:t>RAG</a:t>
            </a:r>
          </a:p>
          <a:p>
            <a:pPr algn="ctr">
              <a:defRPr sz="800" b="0">
                <a:solidFill>
                  <a:srgbClr val="B0BCD4"/>
                </a:solidFill>
                <a:latin typeface="Segoe UI"/>
              </a:defRPr>
            </a:pPr>
            <a:r>
              <a:t>ChromaDB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7080" y="1325880"/>
            <a:ext cx="21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B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1188720"/>
            <a:ext cx="1463040" cy="6400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F8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defRPr sz="900" b="1">
                <a:solidFill>
                  <a:srgbClr val="FF8C38"/>
                </a:solidFill>
                <a:latin typeface="Segoe UI"/>
              </a:defRPr>
            </a:pPr>
            <a:r>
              <a:t>LLM</a:t>
            </a:r>
          </a:p>
          <a:p>
            <a:pPr algn="ctr">
              <a:defRPr sz="800" b="0">
                <a:solidFill>
                  <a:srgbClr val="B0BCD4"/>
                </a:solidFill>
                <a:latin typeface="Segoe UI"/>
              </a:defRPr>
            </a:pPr>
            <a:r>
              <a:t>Ollama / Claude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8720" y="1325880"/>
            <a:ext cx="21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B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1188720"/>
            <a:ext cx="1463040" cy="6400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C6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defRPr sz="900" b="1">
                <a:solidFill>
                  <a:srgbClr val="FC6D26"/>
                </a:solidFill>
                <a:latin typeface="Segoe UI"/>
              </a:defRPr>
            </a:pPr>
            <a:r>
              <a:t>CI Platform</a:t>
            </a:r>
          </a:p>
          <a:p>
            <a:pPr algn="ctr">
              <a:defRPr sz="800" b="0">
                <a:solidFill>
                  <a:srgbClr val="B0BCD4"/>
                </a:solidFill>
                <a:latin typeface="Segoe UI"/>
              </a:defRPr>
            </a:pPr>
            <a:r>
              <a:t>GitLab/Jenkins/Gitea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194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9FFF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5603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17A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FastAPI · Python 3.11 · httpx · Pydantic v2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5603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17A"/>
                </a:solidFill>
                <a:latin typeface="Segoe UI"/>
              </a:defRPr>
            </a:pPr>
            <a:r>
              <a:t>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Ollama (qwen3:32b) · Claude Code CLI (Sonnet/Opus)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063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17A"/>
                </a:solidFill>
                <a:latin typeface="Segoe UI"/>
              </a:defRPr>
            </a:pPr>
            <a:r>
              <a:t>RAG Store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3063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ChromaDB · Sentence Transformers · Vector similarity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063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17A"/>
                </a:solidFill>
                <a:latin typeface="Segoe UI"/>
              </a:defRPr>
            </a:pPr>
            <a:r>
              <a:t>Git Servers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3063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GitLab CE · Gitea (Jenkins + GitHub Actions)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5661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17A"/>
                </a:solidFill>
                <a:latin typeface="Segoe UI"/>
              </a:defRPr>
            </a:pPr>
            <a:r>
              <a:t>Registry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Nexus 3 OSS · Docker Registry (port 5001)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35661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17A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SonarQube · Trivy · Semgrep (SAST)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0690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17A"/>
                </a:solidFill>
                <a:latin typeface="Segoe UI"/>
              </a:defRPr>
            </a:pPr>
            <a:r>
              <a:t>Secrets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HashiCorp Vault · KV-v2 · AppRole auth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40690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17A"/>
                </a:solidFill>
                <a:latin typeface="Segoe UI"/>
              </a:defRPr>
            </a:pPr>
            <a:r>
              <a:t>Infra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Docker Compose · 31 containers · 5 networks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4572000"/>
            <a:ext cx="164592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4663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9FFF"/>
                </a:solidFill>
                <a:latin typeface="Segoe UI"/>
              </a:defRPr>
            </a:pPr>
            <a:r>
              <a:t>33+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9"/>
                </a:solidFill>
                <a:latin typeface="Segoe UI"/>
              </a:defRPr>
            </a:pPr>
            <a:r>
              <a:t>Repos Managed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11680" y="4572000"/>
            <a:ext cx="164592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0" y="4663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85CFF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3120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9"/>
                </a:solidFill>
                <a:latin typeface="Segoe UI"/>
              </a:defRPr>
            </a:pPr>
            <a:r>
              <a:t>RAG Templates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749040" y="4572000"/>
            <a:ext cx="164592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0" y="4663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17A"/>
                </a:solidFill>
                <a:latin typeface="Segoe UI"/>
              </a:defRPr>
            </a:pPr>
            <a:r>
              <a:t>9-10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9"/>
                </a:solidFill>
                <a:latin typeface="Segoe UI"/>
              </a:defRPr>
            </a:pPr>
            <a:r>
              <a:t>Pipeline Stages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0" y="4572000"/>
            <a:ext cx="164592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0" y="4663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38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77840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9"/>
                </a:solidFill>
                <a:latin typeface="Segoe UI"/>
              </a:defRPr>
            </a:pPr>
            <a:r>
              <a:t>Docker Services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23760" y="4572000"/>
            <a:ext cx="164592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0" y="4663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C6D2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9"/>
                </a:solidFill>
                <a:latin typeface="Segoe UI"/>
              </a:defRPr>
            </a:pPr>
            <a:r>
              <a:t>CI Platforms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8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95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1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25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4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Chat-Driven Pipeline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Segoe UI"/>
              </a:defRPr>
            </a:pPr>
            <a:r>
              <a:t>Natural language conversation → production-ready CI/CD pipeline</a:t>
            </a:r>
          </a:p>
        </p:txBody>
      </p:sp>
      <p:sp>
        <p:nvSpPr>
          <p:cNvPr id="4" name="Oval 3"/>
          <p:cNvSpPr/>
          <p:nvPr/>
        </p:nvSpPr>
        <p:spPr>
          <a:xfrm>
            <a:off x="365760" y="1234440"/>
            <a:ext cx="365760" cy="365760"/>
          </a:xfrm>
          <a:prstGeom prst="ellipse">
            <a:avLst/>
          </a:prstGeom>
          <a:solidFill>
            <a:srgbClr val="38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52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Provide Repo 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User pastes a repository URL in the chat interface</a:t>
            </a:r>
          </a:p>
        </p:txBody>
      </p:sp>
      <p:sp>
        <p:nvSpPr>
          <p:cNvPr id="18" name="Oval 17"/>
          <p:cNvSpPr/>
          <p:nvPr/>
        </p:nvSpPr>
        <p:spPr>
          <a:xfrm>
            <a:off x="365760" y="2103120"/>
            <a:ext cx="365760" cy="36576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1214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Analyze 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359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Backend clones repo, detects language, framework, build tool, dependencies</a:t>
            </a:r>
          </a:p>
        </p:txBody>
      </p:sp>
      <p:sp>
        <p:nvSpPr>
          <p:cNvPr id="33" name="Oval 32"/>
          <p:cNvSpPr/>
          <p:nvPr/>
        </p:nvSpPr>
        <p:spPr>
          <a:xfrm>
            <a:off x="365760" y="2971800"/>
            <a:ext cx="365760" cy="365760"/>
          </a:xfrm>
          <a:prstGeom prst="ellipse">
            <a:avLst/>
          </a:prstGeom>
          <a:solidFill>
            <a:srgbClr val="00D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29900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Query RAG Templates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32278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ChromaDB searched for matching successful pipeline templates</a:t>
            </a:r>
          </a:p>
        </p:txBody>
      </p:sp>
      <p:sp>
        <p:nvSpPr>
          <p:cNvPr id="48" name="Oval 47"/>
          <p:cNvSpPr/>
          <p:nvPr/>
        </p:nvSpPr>
        <p:spPr>
          <a:xfrm>
            <a:off x="365760" y="3840480"/>
            <a:ext cx="365760" cy="365760"/>
          </a:xfrm>
          <a:prstGeom prst="ellipse">
            <a:avLst/>
          </a:prstGeom>
          <a:solidFill>
            <a:srgbClr val="FF8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3858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Generate Pipeline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0965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LLM generates .gitlab-ci.yml / Jenkinsfile / workflow YAML + Dockerfile</a:t>
            </a:r>
          </a:p>
        </p:txBody>
      </p:sp>
      <p:sp>
        <p:nvSpPr>
          <p:cNvPr id="63" name="Oval 62"/>
          <p:cNvSpPr/>
          <p:nvPr/>
        </p:nvSpPr>
        <p:spPr>
          <a:xfrm>
            <a:off x="365760" y="4709160"/>
            <a:ext cx="365760" cy="365760"/>
          </a:xfrm>
          <a:prstGeom prst="ellipse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" y="4727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Validate &amp; Fix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" y="4965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Automated YAML validation, image verification, iterative LLM self-healing</a:t>
            </a:r>
          </a:p>
        </p:txBody>
      </p:sp>
      <p:sp>
        <p:nvSpPr>
          <p:cNvPr id="78" name="Oval 77"/>
          <p:cNvSpPr/>
          <p:nvPr/>
        </p:nvSpPr>
        <p:spPr>
          <a:xfrm>
            <a:off x="4754880" y="123444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57800" y="1252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Review &amp; Approve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57800" y="1490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User reviews generated config, approves or requests changes</a:t>
            </a:r>
          </a:p>
        </p:txBody>
      </p:sp>
      <p:sp>
        <p:nvSpPr>
          <p:cNvPr id="93" name="Oval 92"/>
          <p:cNvSpPr/>
          <p:nvPr/>
        </p:nvSpPr>
        <p:spPr>
          <a:xfrm>
            <a:off x="4754880" y="2103120"/>
            <a:ext cx="365760" cy="365760"/>
          </a:xfrm>
          <a:prstGeom prst="ellipse">
            <a:avLst/>
          </a:prstGeom>
          <a:solidFill>
            <a:srgbClr val="38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257800" y="21214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Commit &amp; Push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57800" y="2359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Pipeline committed to feature branch via Git API</a:t>
            </a:r>
          </a:p>
        </p:txBody>
      </p:sp>
      <p:sp>
        <p:nvSpPr>
          <p:cNvPr id="108" name="Oval 107"/>
          <p:cNvSpPr/>
          <p:nvPr/>
        </p:nvSpPr>
        <p:spPr>
          <a:xfrm>
            <a:off x="4754880" y="2971800"/>
            <a:ext cx="365760" cy="36576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257800" y="29900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Monitor Build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257800" y="32278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Real-time build status tracking, auto-triggered by commit</a:t>
            </a:r>
          </a:p>
        </p:txBody>
      </p:sp>
      <p:sp>
        <p:nvSpPr>
          <p:cNvPr id="123" name="Oval 122"/>
          <p:cNvSpPr/>
          <p:nvPr/>
        </p:nvSpPr>
        <p:spPr>
          <a:xfrm>
            <a:off x="4754880" y="3840480"/>
            <a:ext cx="365760" cy="365760"/>
          </a:xfrm>
          <a:prstGeom prst="ellipse">
            <a:avLst/>
          </a:prstGeom>
          <a:solidFill>
            <a:srgbClr val="00D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257800" y="3858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Learn on Success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257800" y="40965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Successful pipeline stored in ChromaDB for future RAG retrieval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35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4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55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6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7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75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8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9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95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1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15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2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3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35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40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155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160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17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1750"/>
                            </p:stCondLst>
                            <p:childTnLst>
                              <p:par>
                                <p:cTn id="1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1800"/>
                            </p:stCondLst>
                            <p:childTnLst>
                              <p:par>
                                <p:cTn id="1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1900"/>
                            </p:stCondLst>
                            <p:childTnLst>
                              <p:par>
                                <p:cTn id="1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195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C6D26"/>
                </a:solidFill>
                <a:latin typeface="Segoe UI"/>
              </a:defRPr>
            </a:pPr>
            <a:r>
              <a:t>GitLab CI/CD Pipeline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Segoe UI"/>
              </a:defRPr>
            </a:pPr>
            <a:r>
              <a:t>Generates .gitlab-ci.yml + Dockerfile for GitLab CE with Docker-in-Docker runner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49376" cy="411480"/>
          </a:xfrm>
          <a:prstGeom prst="roundRect">
            <a:avLst/>
          </a:prstGeom>
          <a:solidFill>
            <a:srgbClr val="FC6D26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Compile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8576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9728" y="1097280"/>
            <a:ext cx="849376" cy="411480"/>
          </a:xfrm>
          <a:prstGeom prst="roundRect">
            <a:avLst/>
          </a:prstGeom>
          <a:solidFill>
            <a:srgbClr val="FC6D26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1104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02256" y="1097280"/>
            <a:ext cx="849376" cy="411480"/>
          </a:xfrm>
          <a:prstGeom prst="roundRect">
            <a:avLst/>
          </a:prstGeom>
          <a:solidFill>
            <a:srgbClr val="FC6D26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3632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4784" y="1097280"/>
            <a:ext cx="849376" cy="411480"/>
          </a:xfrm>
          <a:prstGeom prst="roundRect">
            <a:avLst/>
          </a:prstGeom>
          <a:solidFill>
            <a:srgbClr val="FC6D26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SAST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6160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47312" y="1097280"/>
            <a:ext cx="849376" cy="411480"/>
          </a:xfrm>
          <a:prstGeom prst="roundRect">
            <a:avLst/>
          </a:prstGeom>
          <a:solidFill>
            <a:srgbClr val="FC6D26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SonarQube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8688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9840" y="1097280"/>
            <a:ext cx="849376" cy="411480"/>
          </a:xfrm>
          <a:prstGeom prst="roundRect">
            <a:avLst/>
          </a:prstGeom>
          <a:solidFill>
            <a:srgbClr val="FC6D26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Trivy 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1216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2368" y="1097280"/>
            <a:ext cx="849376" cy="411480"/>
          </a:xfrm>
          <a:prstGeom prst="roundRect">
            <a:avLst/>
          </a:prstGeom>
          <a:solidFill>
            <a:srgbClr val="FC6D26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3744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14896" y="1097280"/>
            <a:ext cx="849376" cy="411480"/>
          </a:xfrm>
          <a:prstGeom prst="roundRect">
            <a:avLst/>
          </a:prstGeom>
          <a:solidFill>
            <a:srgbClr val="FC6D26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Notify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6272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37424" y="1097280"/>
            <a:ext cx="849376" cy="411480"/>
          </a:xfrm>
          <a:prstGeom prst="roundRect">
            <a:avLst/>
          </a:prstGeom>
          <a:solidFill>
            <a:srgbClr val="FC6D26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Learn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C6D26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20116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FC6D26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Language auto-detection (Java, Python, Go, Node.js, Ruby, Rust, .NET)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C6D26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Framework-aware generation (Spring Boot, FastAPI, Gin, Express, etc.)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C6D26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DinD network isolation — pre-built Nexus images, no apk/apt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C6D26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RAG priority: language+framework+build_tool match first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C6D26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Iterative LLM self-healing with error pattern matching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C6D26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Automatic pipeline learning on successful builds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C6D26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Splunk + Jira notifications on failure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632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C6D26"/>
                </a:solidFill>
                <a:latin typeface="Segoe UI"/>
              </a:defRPr>
            </a:pPr>
            <a:r>
              <a:t>Chat Interaction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0" y="2057400"/>
            <a:ext cx="3840480" cy="5943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83480" y="20848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89FFF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83480" y="22402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0BCD4"/>
                </a:solidFill>
                <a:latin typeface="Segoe UI"/>
              </a:defRPr>
            </a:pPr>
            <a:r>
              <a:t>Generate a pipeline for</a:t>
            </a:r>
            <a:br/>
            <a:r>
              <a:t>http://gitlab-server/ai-pipeline-</a:t>
            </a:r>
            <a:br/>
            <a:r>
              <a:t>projects/java-springboot-api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46320" y="2715768"/>
            <a:ext cx="3840480" cy="5943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83480" y="27432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D17A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83480" y="289864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0BCD4"/>
                </a:solidFill>
                <a:latin typeface="Segoe UI"/>
              </a:defRPr>
            </a:pPr>
            <a:r>
              <a:t>Analyzing repository...</a:t>
            </a:r>
            <a:br/>
            <a:r>
              <a:t>Detected: Java · Spring Boot · Maven</a:t>
            </a:r>
            <a:br/>
            <a:r>
              <a:t>Querying RAG templates...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0" y="3374136"/>
            <a:ext cx="3840480" cy="5943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83480" y="34015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D17A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83480" y="355701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0BCD4"/>
                </a:solidFill>
                <a:latin typeface="Segoe UI"/>
              </a:defRPr>
            </a:pPr>
            <a:r>
              <a:t>Pipeline generated! 9 stages</a:t>
            </a:r>
            <a:br/>
            <a:r>
              <a:t>Source: RAG template match</a:t>
            </a:r>
            <a:br/>
            <a:r>
              <a:t>[Approve] [Modify] [Reject]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846320" y="4032504"/>
            <a:ext cx="3840480" cy="5943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83480" y="405993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89FFF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83480" y="421538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0BCD4"/>
                </a:solidFill>
                <a:latin typeface="Segoe UI"/>
              </a:defRPr>
            </a:pPr>
            <a:r>
              <a:t>Approve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846320" y="4690872"/>
            <a:ext cx="3840480" cy="5943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83480" y="47183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D17A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83480" y="48737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0BCD4"/>
                </a:solidFill>
                <a:latin typeface="Segoe UI"/>
              </a:defRPr>
            </a:pPr>
            <a:r>
              <a:t>Committed to feature branch.</a:t>
            </a:r>
            <a:br/>
            <a:r>
              <a:t>Build running... all 9 stages passed ✓</a:t>
            </a:r>
            <a:br/>
            <a:r>
              <a:t>Template saved to ChromaDB.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7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9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1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8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3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6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9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22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3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33C3E"/>
                </a:solidFill>
                <a:latin typeface="Segoe UI"/>
              </a:defRPr>
            </a:pPr>
            <a:r>
              <a:t>Jenkins Pipeline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Segoe UI"/>
              </a:defRPr>
            </a:pPr>
            <a:r>
              <a:t>Generates Jenkinsfile + Dockerfile for declarative multibranch pipelines with Docker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49376" cy="411480"/>
          </a:xfrm>
          <a:prstGeom prst="roundRect">
            <a:avLst/>
          </a:prstGeom>
          <a:solidFill>
            <a:srgbClr val="D33C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Compile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8576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9728" y="1097280"/>
            <a:ext cx="849376" cy="411480"/>
          </a:xfrm>
          <a:prstGeom prst="roundRect">
            <a:avLst/>
          </a:prstGeom>
          <a:solidFill>
            <a:srgbClr val="D33C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Build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1104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02256" y="1097280"/>
            <a:ext cx="849376" cy="411480"/>
          </a:xfrm>
          <a:prstGeom prst="roundRect">
            <a:avLst/>
          </a:prstGeom>
          <a:solidFill>
            <a:srgbClr val="D33C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Test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3632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4784" y="1097280"/>
            <a:ext cx="849376" cy="411480"/>
          </a:xfrm>
          <a:prstGeom prst="roundRect">
            <a:avLst/>
          </a:prstGeom>
          <a:solidFill>
            <a:srgbClr val="D33C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Static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6160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47312" y="1097280"/>
            <a:ext cx="849376" cy="411480"/>
          </a:xfrm>
          <a:prstGeom prst="roundRect">
            <a:avLst/>
          </a:prstGeom>
          <a:solidFill>
            <a:srgbClr val="D33C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SonarQube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8688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9840" y="1097280"/>
            <a:ext cx="849376" cy="411480"/>
          </a:xfrm>
          <a:prstGeom prst="roundRect">
            <a:avLst/>
          </a:prstGeom>
          <a:solidFill>
            <a:srgbClr val="D33C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Trivy 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1216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2368" y="1097280"/>
            <a:ext cx="849376" cy="411480"/>
          </a:xfrm>
          <a:prstGeom prst="roundRect">
            <a:avLst/>
          </a:prstGeom>
          <a:solidFill>
            <a:srgbClr val="D33C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Push Release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3744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14896" y="1097280"/>
            <a:ext cx="849376" cy="411480"/>
          </a:xfrm>
          <a:prstGeom prst="roundRect">
            <a:avLst/>
          </a:prstGeom>
          <a:solidFill>
            <a:srgbClr val="D33C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Notify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6272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37424" y="1097280"/>
            <a:ext cx="849376" cy="411480"/>
          </a:xfrm>
          <a:prstGeom prst="roundRect">
            <a:avLst/>
          </a:prstGeom>
          <a:solidFill>
            <a:srgbClr val="D33C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Learn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33C3E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20116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D33C3E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Declarative Jenkinsfile with Docker agent label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D33C3E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Gitea SCM integration (not GitLab)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D33C3E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Multibranch pipeline auto-discovery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D33C3E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Credential management via Jenkins credential store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D33C3E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Pattern-based URL detection in chat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D33C3E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Background build monitoring with auto-learning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D33C3E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Branch scan trigger on new commits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632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33C3E"/>
                </a:solidFill>
                <a:latin typeface="Segoe UI"/>
              </a:defRPr>
            </a:pPr>
            <a:r>
              <a:t>Jenkins Architecture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0" y="2103120"/>
            <a:ext cx="3840480" cy="3657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83480" y="21488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33C3E"/>
                </a:solidFill>
                <a:latin typeface="Segoe UI"/>
              </a:defRPr>
            </a:pPr>
            <a:r>
              <a:t>Git Server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2148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D4"/>
                </a:solidFill>
                <a:latin typeface="Segoe UI"/>
              </a:defRPr>
            </a:pPr>
            <a:r>
              <a:t>Gitea (gitea-server:3000)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46320" y="2542032"/>
            <a:ext cx="3840480" cy="3657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83480" y="2587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33C3E"/>
                </a:solidFill>
                <a:latin typeface="Segoe UI"/>
              </a:defRPr>
            </a:pPr>
            <a:r>
              <a:t>Organization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2587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D4"/>
                </a:solidFill>
                <a:latin typeface="Segoe UI"/>
              </a:defRPr>
            </a:pPr>
            <a:r>
              <a:t>jenkins-projects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0" y="2980944"/>
            <a:ext cx="3840480" cy="3657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83480" y="30266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33C3E"/>
                </a:solidFill>
                <a:latin typeface="Segoe UI"/>
              </a:defRPr>
            </a:pPr>
            <a:r>
              <a:t>Build Agents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0" y="30266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D4"/>
                </a:solidFill>
                <a:latin typeface="Segoe UI"/>
              </a:defRPr>
            </a:pPr>
            <a:r>
              <a:t>3 Docker agents with docker label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846320" y="3419856"/>
            <a:ext cx="3840480" cy="3657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83480" y="34655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33C3E"/>
                </a:solidFill>
                <a:latin typeface="Segoe UI"/>
              </a:defRPr>
            </a:pPr>
            <a:r>
              <a:t>Registry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34655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D4"/>
                </a:solidFill>
                <a:latin typeface="Segoe UI"/>
              </a:defRPr>
            </a:pPr>
            <a:r>
              <a:t>Nexus at localhost:5001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846320" y="3858768"/>
            <a:ext cx="3840480" cy="3657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83480" y="39044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33C3E"/>
                </a:solidFill>
                <a:latin typeface="Segoe UI"/>
              </a:defRPr>
            </a:pPr>
            <a:r>
              <a:t>Monitoring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7920" y="39044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D4"/>
                </a:solidFill>
                <a:latin typeface="Segoe UI"/>
              </a:defRPr>
            </a:pPr>
            <a:r>
              <a:t>Real-time build status polling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846320" y="4297680"/>
            <a:ext cx="3840480" cy="3657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83480" y="4343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33C3E"/>
                </a:solidFill>
                <a:latin typeface="Segoe UI"/>
              </a:defRPr>
            </a:pPr>
            <a:r>
              <a:t>Context Path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17920" y="4343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D4"/>
                </a:solidFill>
                <a:latin typeface="Segoe UI"/>
              </a:defRPr>
            </a:pPr>
            <a:r>
              <a:t>/jenkins (JENKINS_OPTS)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7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9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1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8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2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4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6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8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188FF"/>
                </a:solidFill>
                <a:latin typeface="Segoe UI"/>
              </a:defRPr>
            </a:pPr>
            <a:r>
              <a:t>GitHub Actions Pipeline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Segoe UI"/>
              </a:defRPr>
            </a:pPr>
            <a:r>
              <a:t>Generates workflow YAML + Dockerfile for Gitea Actions runner (GitHub Actions compatible)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49376" cy="411480"/>
          </a:xfrm>
          <a:prstGeom prst="roundRect">
            <a:avLst/>
          </a:prstGeom>
          <a:solidFill>
            <a:srgbClr val="2188FF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Compile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8576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9728" y="1097280"/>
            <a:ext cx="849376" cy="411480"/>
          </a:xfrm>
          <a:prstGeom prst="roundRect">
            <a:avLst/>
          </a:prstGeom>
          <a:solidFill>
            <a:srgbClr val="2188FF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1104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02256" y="1097280"/>
            <a:ext cx="849376" cy="411480"/>
          </a:xfrm>
          <a:prstGeom prst="roundRect">
            <a:avLst/>
          </a:prstGeom>
          <a:solidFill>
            <a:srgbClr val="2188FF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3632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4784" y="1097280"/>
            <a:ext cx="849376" cy="411480"/>
          </a:xfrm>
          <a:prstGeom prst="roundRect">
            <a:avLst/>
          </a:prstGeom>
          <a:solidFill>
            <a:srgbClr val="2188FF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Static</a:t>
            </a:r>
            <a:br/>
            <a:r>
              <a:t>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6160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47312" y="1097280"/>
            <a:ext cx="849376" cy="411480"/>
          </a:xfrm>
          <a:prstGeom prst="roundRect">
            <a:avLst/>
          </a:prstGeom>
          <a:solidFill>
            <a:srgbClr val="2188FF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SonarQube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8688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9840" y="1097280"/>
            <a:ext cx="849376" cy="411480"/>
          </a:xfrm>
          <a:prstGeom prst="roundRect">
            <a:avLst/>
          </a:prstGeom>
          <a:solidFill>
            <a:srgbClr val="2188FF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Trivy 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1216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2368" y="1097280"/>
            <a:ext cx="849376" cy="411480"/>
          </a:xfrm>
          <a:prstGeom prst="roundRect">
            <a:avLst/>
          </a:prstGeom>
          <a:solidFill>
            <a:srgbClr val="2188FF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3744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14896" y="1097280"/>
            <a:ext cx="849376" cy="411480"/>
          </a:xfrm>
          <a:prstGeom prst="roundRect">
            <a:avLst/>
          </a:prstGeom>
          <a:solidFill>
            <a:srgbClr val="2188FF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Notify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6272" y="1097280"/>
            <a:ext cx="73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37424" y="1097280"/>
            <a:ext cx="849376" cy="411480"/>
          </a:xfrm>
          <a:prstGeom prst="roundRect">
            <a:avLst/>
          </a:prstGeom>
          <a:solidFill>
            <a:srgbClr val="2188FF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 Semibold"/>
              </a:defRPr>
            </a:pPr>
            <a:r>
              <a:t>Learn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88FF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201168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2188FF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Gitea Actions runner (Alpine-based act_runner)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2188FF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Shell-based checkout (no actions/checkout — cache corruption fix)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2188FF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Token-authenticated git clone for private repos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2188FF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No Docker marketplace actions — shell docker build/push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2188FF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Multi-stage Dockerfiles (no artifact passing support)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2188FF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wget instead of curl (Alpine runner limitation)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2188FF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Default templates preferred over LLM for known languages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2188FF"/>
                </a:solidFill>
                <a:latin typeface="Segoe UI"/>
              </a:rPr>
              <a:t>▸ </a:t>
            </a:r>
            <a:r>
              <a:rPr sz="1000">
                <a:solidFill>
                  <a:srgbClr val="B0BCD4"/>
                </a:solidFill>
                <a:latin typeface="Segoe UI"/>
              </a:rPr>
              <a:t>E2E verified: 10 repos × 10 jobs all passing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632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88FF"/>
                </a:solidFill>
                <a:latin typeface="Segoe UI"/>
              </a:defRPr>
            </a:pPr>
            <a:r>
              <a:t>Gitea Actions Adaptations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0" y="2103120"/>
            <a:ext cx="3840480" cy="475488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83480" y="212140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188FF"/>
                </a:solidFill>
                <a:latin typeface="Segoe UI"/>
              </a:defRPr>
            </a:pPr>
            <a:r>
              <a:t>No Artifacts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212140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0BCD4"/>
                </a:solidFill>
                <a:latin typeface="Segoe UI"/>
              </a:defRPr>
            </a:pPr>
            <a:r>
              <a:t>Multi-stage Docker builds instead of</a:t>
            </a:r>
            <a:br/>
            <a:r>
              <a:t>upload-artifact/download-artifact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46320" y="2651760"/>
            <a:ext cx="3840480" cy="475488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83480" y="26700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188FF"/>
                </a:solidFill>
                <a:latin typeface="Segoe UI"/>
              </a:defRPr>
            </a:pPr>
            <a:r>
              <a:t>No Docker Actions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5080" y="267004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0BCD4"/>
                </a:solidFill>
                <a:latin typeface="Segoe UI"/>
              </a:defRPr>
            </a:pPr>
            <a:r>
              <a:t>Shell docker build/push replaces</a:t>
            </a:r>
            <a:br/>
            <a:r>
              <a:t>docker/build-push-action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0" y="3200400"/>
            <a:ext cx="3840480" cy="475488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83480" y="32186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188FF"/>
                </a:solidFill>
                <a:latin typeface="Segoe UI"/>
              </a:defRPr>
            </a:pPr>
            <a:r>
              <a:t>Runner Cache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80" y="321868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0BCD4"/>
                </a:solidFill>
                <a:latin typeface="Segoe UI"/>
              </a:defRPr>
            </a:pPr>
            <a:r>
              <a:t>Shell git clone avoids stale</a:t>
            </a:r>
            <a:br/>
            <a:r>
              <a:t>actions/checkout v4 cache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846320" y="3749040"/>
            <a:ext cx="3840480" cy="475488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83480" y="37673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188FF"/>
                </a:solidFill>
                <a:latin typeface="Segoe UI"/>
              </a:defRPr>
            </a:pPr>
            <a:r>
              <a:t>Docker Networking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55080" y="376732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0BCD4"/>
                </a:solidFill>
                <a:latin typeface="Segoe UI"/>
              </a:defRPr>
            </a:pPr>
            <a:r>
              <a:t>localhost:5001 for registry</a:t>
            </a:r>
            <a:br/>
            <a:r>
              <a:t>(host daemon, not container DNS)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846320" y="4297680"/>
            <a:ext cx="3840480" cy="475488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83480" y="4315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188FF"/>
                </a:solidFill>
                <a:latin typeface="Segoe UI"/>
              </a:defRPr>
            </a:pPr>
            <a:r>
              <a:t>YAML on: fix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55080" y="431596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0BCD4"/>
                </a:solidFill>
                <a:latin typeface="Segoe UI"/>
              </a:defRPr>
            </a:pPr>
            <a:r>
              <a:t>Post-process yaml.dump to restore</a:t>
            </a:r>
            <a:br/>
            <a:r>
              <a:t>'on:' key from boolean 'true:'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7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9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1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8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2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4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6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8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A85CFF"/>
                </a:solidFill>
                <a:latin typeface="Segoe UI"/>
              </a:defRPr>
            </a:pPr>
            <a:r>
              <a:t>RAG Learning Loop — Self-Improving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Segoe UI"/>
              </a:defRPr>
            </a:pPr>
            <a:r>
              <a:t>Every successful pipeline build becomes a template for future generations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256032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F8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361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38"/>
                </a:solidFill>
                <a:latin typeface="Segoe UI"/>
              </a:defRPr>
            </a:pPr>
            <a:r>
              <a:t>1. Generate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LLM creates pipeline config</a:t>
            </a:r>
            <a:br/>
            <a:r>
              <a:t>from repo analysis + RAG 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463040"/>
            <a:ext cx="256032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5361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D6A"/>
                </a:solidFill>
                <a:latin typeface="Segoe UI"/>
              </a:defRPr>
            </a:pPr>
            <a:r>
              <a:t>2. 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8288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YAML syntax, image availability,</a:t>
            </a:r>
            <a:br/>
            <a:r>
              <a:t>stage structure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463040"/>
            <a:ext cx="256032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8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5361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9FFF"/>
                </a:solidFill>
                <a:latin typeface="Segoe UI"/>
              </a:defRPr>
            </a:pPr>
            <a:r>
              <a:t>3. Commit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8288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Push to feature branch</a:t>
            </a:r>
            <a:br/>
            <a:r>
              <a:t>via Git API (GitLab/Gitea)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926080"/>
            <a:ext cx="256032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9992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17A"/>
                </a:solidFill>
                <a:latin typeface="Segoe UI"/>
              </a:defRPr>
            </a:pPr>
            <a:r>
              <a:t>4.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2918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CI platform executes pipeline</a:t>
            </a:r>
            <a:br/>
            <a:r>
              <a:t>Real-time status monitoring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2926080"/>
            <a:ext cx="256032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29992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CFF"/>
                </a:solidFill>
                <a:latin typeface="Segoe UI"/>
              </a:defRPr>
            </a:pPr>
            <a:r>
              <a:t>5. 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2918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On success → store in ChromaDB</a:t>
            </a:r>
            <a:br/>
            <a:r>
              <a:t>with metadata + embeddings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2926080"/>
            <a:ext cx="256032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8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9992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9FFF"/>
                </a:solidFill>
                <a:latin typeface="Segoe UI"/>
              </a:defRPr>
            </a:pPr>
            <a:r>
              <a:t>6. Retrieve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2918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Next generation queries ChromaDB</a:t>
            </a:r>
            <a:br/>
            <a:r>
              <a:t>for best-match template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1783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B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1783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B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B99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3246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B99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3246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B99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B99"/>
                </a:solidFill>
                <a:latin typeface="Segoe UI"/>
              </a:defRPr>
            </a:pPr>
            <a:r>
              <a:t>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297680"/>
            <a:ext cx="8412480" cy="7772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3708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CFF"/>
                </a:solidFill>
                <a:latin typeface="Segoe UI"/>
              </a:defRPr>
            </a:pPr>
            <a:r>
              <a:t>ChromaDB Collections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64515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0BCD4"/>
                </a:solidFill>
                <a:latin typeface="Consolas"/>
              </a:defRPr>
            </a:pPr>
            <a:r>
              <a:t>gitlab_successful_pipelines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8006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D17A"/>
                </a:solidFill>
                <a:latin typeface="Segoe UI"/>
              </a:defRPr>
            </a:pPr>
            <a:r>
              <a:t>13 templates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464515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0BCD4"/>
                </a:solidFill>
                <a:latin typeface="Consolas"/>
              </a:defRPr>
            </a:pPr>
            <a:r>
              <a:t>jenkins_successful_pipelines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48006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D17A"/>
                </a:solidFill>
                <a:latin typeface="Segoe UI"/>
              </a:defRPr>
            </a:pPr>
            <a:r>
              <a:t>10 templates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64515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0BCD4"/>
                </a:solidFill>
                <a:latin typeface="Consolas"/>
              </a:defRPr>
            </a:pPr>
            <a:r>
              <a:t>github_actions_successful_pipelines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48006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D17A"/>
                </a:solidFill>
                <a:latin typeface="Segoe UI"/>
              </a:defRPr>
            </a:pPr>
            <a:r>
              <a:t>10 templates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2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8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22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17A"/>
                </a:solidFill>
                <a:latin typeface="Segoe UI"/>
              </a:defRPr>
            </a:pPr>
            <a:r>
              <a:t>Validation &amp; LLM Self-Healing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D4"/>
                </a:solidFill>
                <a:latin typeface="Segoe UI"/>
              </a:defRPr>
            </a:pPr>
            <a:r>
              <a:t>Multi-layer validation with automatic error correction before any pipeline reaches 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841248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8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9FFF"/>
                </a:solidFill>
                <a:latin typeface="Segoe UI"/>
              </a:defRPr>
            </a:pPr>
            <a:r>
              <a:t>Layer 1: Static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▸ YAML/Groovy syntax parsing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842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▸ Required stages verification (compile → learn)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6420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▸ Docker image reference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842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▸ Environment variable completeness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743200"/>
            <a:ext cx="841248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F8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16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38"/>
                </a:solidFill>
                <a:latin typeface="Segoe UI"/>
              </a:defRPr>
            </a:pPr>
            <a:r>
              <a:t>Layer 2: Image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272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▸ Public-to-Nexus image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472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▸ Registry connectivity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272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▸ Base image availability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4472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▸ Version compatibility (e.g. rust:1.93-slim)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206240"/>
            <a:ext cx="841248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79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CFF"/>
                </a:solidFill>
                <a:latin typeface="Segoe UI"/>
              </a:defRPr>
            </a:pPr>
            <a:r>
              <a:t>Layer 3: LLM Self-Healing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902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▸ Error pattern detection (40+ patterns)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103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▸ LLM receives error + pipeline +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5902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▸ Iterative fix (up to 3 attempts)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9103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D4"/>
                </a:solidFill>
                <a:latin typeface="Segoe UI"/>
              </a:defRPr>
            </a:pPr>
            <a:r>
              <a:t>▸ Patterns: TLS errors, missing deps, syntax, artifact size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1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468880"/>
            <a:ext cx="2743200" cy="38100"/>
          </a:xfrm>
          <a:prstGeom prst="rect">
            <a:avLst/>
          </a:prstGeom>
          <a:solidFill>
            <a:srgbClr val="38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Segoe UI"/>
              </a:defRPr>
            </a:pPr>
            <a:r>
              <a:t>Generating pipelines across all three platforms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291840"/>
            <a:ext cx="5486400" cy="457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C6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65960" y="3346704"/>
            <a:ext cx="320040" cy="320040"/>
          </a:xfrm>
          <a:prstGeom prst="ellipse">
            <a:avLst/>
          </a:prstGeom>
          <a:solidFill>
            <a:srgbClr val="FC6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337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C6D26"/>
                </a:solidFill>
                <a:latin typeface="Segoe UI"/>
              </a:defRPr>
            </a:pPr>
            <a:r>
              <a:t>GitLab CI/CD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364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Segoe UI"/>
              </a:defRPr>
            </a:pPr>
            <a:r>
              <a:t>Java Spring Boot API → .gitlab-ci.yml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886200"/>
            <a:ext cx="5486400" cy="457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D33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965960" y="3941064"/>
            <a:ext cx="320040" cy="320040"/>
          </a:xfrm>
          <a:prstGeom prst="ellipse">
            <a:avLst/>
          </a:prstGeom>
          <a:solidFill>
            <a:srgbClr val="D33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33C3E"/>
                </a:solidFill>
                <a:latin typeface="Segoe UI"/>
              </a:defRPr>
            </a:pPr>
            <a:r>
              <a:t>Jenkins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9593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Segoe UI"/>
              </a:defRPr>
            </a:pPr>
            <a:r>
              <a:t>Python FastAPI Service → Jenkinsfile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4480560"/>
            <a:ext cx="5486400" cy="457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21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65960" y="4535424"/>
            <a:ext cx="320040" cy="320040"/>
          </a:xfrm>
          <a:prstGeom prst="ellipse">
            <a:avLst/>
          </a:prstGeom>
          <a:solidFill>
            <a:srgbClr val="21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88FF"/>
                </a:solidFill>
                <a:latin typeface="Segoe UI"/>
              </a:defRPr>
            </a:pPr>
            <a:r>
              <a:t>GitHub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553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D4"/>
                </a:solidFill>
                <a:latin typeface="Segoe UI"/>
              </a:defRPr>
            </a:pPr>
            <a:r>
              <a:t>Go Gin API → workflow YAML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1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Platform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B99"/>
                </a:solidFill>
                <a:latin typeface="Segoe UI"/>
              </a:defRPr>
            </a:pPr>
            <a: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4680" y="914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C6D26"/>
                </a:solidFill>
                <a:latin typeface="Segoe UI"/>
              </a:defRPr>
            </a:pPr>
            <a:r>
              <a:t>GitLab 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914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33C3E"/>
                </a:solidFill>
                <a:latin typeface="Segoe UI"/>
              </a:defRPr>
            </a:pPr>
            <a:r>
              <a:t>Jenkins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914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188FF"/>
                </a:solidFill>
                <a:latin typeface="Segoe UI"/>
              </a:defRPr>
            </a:pPr>
            <a:r>
              <a:t>GitHub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8412480" cy="347472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Pipeline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3716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.gitlab-ci.yml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3716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Jenkinsfile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3716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workflow YAML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709928"/>
            <a:ext cx="8412480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556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Git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17556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GitLab 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7556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Gitea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7556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Gitea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093976"/>
            <a:ext cx="8412480" cy="347472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396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Runner 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1396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Docker-in-Docker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1396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Docker Agents (×3)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1396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act_runner (Alpine)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478024"/>
            <a:ext cx="8412480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5237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Pipeline Stages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25237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9 stages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5237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9 stages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5237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10 jobs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2862072"/>
            <a:ext cx="8412480" cy="347472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9077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Registry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29077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Nexus (ai-nexus:5001)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29077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Nexus (localhost:5001)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29077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Nexus (localhost:5001)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3246120"/>
            <a:ext cx="8412480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2918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Checkout Method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2918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GitLab CI built-in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2918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SCM plugin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2918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Shell git clone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3630168"/>
            <a:ext cx="8412480" cy="347472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6758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Artifact Strategy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36758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GitLab artifacts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36758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Stash/unstash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36758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Multi-stage Dockerfile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4014216"/>
            <a:ext cx="8412480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0599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Chat Interface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54680" y="40599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Ollama tool-calling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40599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Pattern detection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40599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Pattern detection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4398264"/>
            <a:ext cx="8412480" cy="347472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4439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LLM Self-Heal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4680" y="44439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3 iterations max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44439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3 iterations max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44439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3 iterations max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760" y="4782312"/>
            <a:ext cx="8412480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48280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RAG Templates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54680" y="4828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13 in ChromaDB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20640" y="4828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10 in ChromaDB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4828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D4"/>
                </a:solidFill>
                <a:latin typeface="Segoe UI"/>
              </a:defRPr>
            </a:pPr>
            <a:r>
              <a:t>10 in ChromaDB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194560"/>
            <a:ext cx="2743200" cy="38100"/>
          </a:xfrm>
          <a:prstGeom prst="rect">
            <a:avLst/>
          </a:prstGeom>
          <a:solidFill>
            <a:srgbClr val="38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Segoe UI"/>
              </a:defRPr>
            </a:pPr>
            <a:r>
              <a:t>AI-Powered DevOps Pipeline Platform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200400"/>
            <a:ext cx="1554480" cy="10972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8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9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9"/>
                </a:solidFill>
                <a:latin typeface="Segoe UI"/>
              </a:defRPr>
            </a:pPr>
            <a:r>
              <a:t>CI/CD</a:t>
            </a:r>
            <a:br/>
            <a:r>
              <a:t>Platforms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3200400"/>
            <a:ext cx="1554480" cy="10972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17A"/>
                </a:solidFill>
                <a:latin typeface="Segoe UI"/>
              </a:defRPr>
            </a:pPr>
            <a:r>
              <a:t>33+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749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9"/>
                </a:solidFill>
                <a:latin typeface="Segoe UI"/>
              </a:defRPr>
            </a:pPr>
            <a:r>
              <a:t>Managed</a:t>
            </a:r>
            <a:br/>
            <a:r>
              <a:t>Repositories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200400"/>
            <a:ext cx="1554480" cy="10972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85CFF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749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9"/>
                </a:solidFill>
                <a:latin typeface="Segoe UI"/>
              </a:defRPr>
            </a:pPr>
            <a:r>
              <a:t>RAG</a:t>
            </a:r>
            <a:br/>
            <a:r>
              <a:t>Templates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3200400"/>
            <a:ext cx="1554480" cy="10972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F8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38"/>
                </a:solidFill>
                <a:latin typeface="Segoe UI"/>
              </a:defRPr>
            </a:pPr>
            <a:r>
              <a:t>9-10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749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9"/>
                </a:solidFill>
                <a:latin typeface="Segoe UI"/>
              </a:defRPr>
            </a:pPr>
            <a:r>
              <a:t>Pipeline</a:t>
            </a:r>
            <a:br/>
            <a:r>
              <a:t>Stages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572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B99"/>
                </a:solidFill>
                <a:latin typeface="Consolas"/>
              </a:defRPr>
            </a:pPr>
            <a:r>
              <a:t>Backend: http://localhost:8003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4800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B99"/>
                </a:solidFill>
                <a:latin typeface="Consolas"/>
              </a:defRPr>
            </a:pPr>
            <a:r>
              <a:t>GitLab: http://localhost:8929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029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B99"/>
                </a:solidFill>
                <a:latin typeface="Consolas"/>
              </a:defRPr>
            </a:pPr>
            <a:r>
              <a:t>Jenkins: http://localhost:8080/jenkins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257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B99"/>
                </a:solidFill>
                <a:latin typeface="Consolas"/>
              </a:defRPr>
            </a:pPr>
            <a:r>
              <a:t>Gitea: http://localhost:3002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2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4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