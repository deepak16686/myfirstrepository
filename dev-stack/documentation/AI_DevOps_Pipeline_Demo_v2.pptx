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6400800" cy="381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14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AI-Powered DevOps Pipeline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4A5A"/>
                </a:solidFill>
                <a:latin typeface="Segoe UI"/>
              </a:defRPr>
            </a:pPr>
            <a:r>
              <a:t>Intelligent CI/CD Pipeline Generation with RAG +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931920"/>
            <a:ext cx="1463040" cy="3657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1100" b="1">
                <a:solidFill>
                  <a:srgbClr val="E85D04"/>
                </a:solidFill>
                <a:latin typeface="Segoe UI"/>
              </a:defRPr>
            </a:pPr>
            <a:r>
              <a:t>GitLab CI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931920"/>
            <a:ext cx="1463040" cy="3657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1100" b="1">
                <a:solidFill>
                  <a:srgbClr val="CC3333"/>
                </a:solidFill>
                <a:latin typeface="Segoe UI"/>
              </a:defRPr>
            </a:pPr>
            <a:r>
              <a:t>Jenkins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3931920"/>
            <a:ext cx="1463040" cy="3657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0D6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1100" b="1">
                <a:solidFill>
                  <a:srgbClr val="0D69D0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Demo Presentation  ·  February 2026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Segoe UI"/>
              </a:defRPr>
            </a:pPr>
            <a:r>
              <a:t>End-to-end intelligent pipeline generation across three CI/CD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12700"/>
          </a:xfrm>
          <a:prstGeom prst="rect">
            <a:avLst/>
          </a:prstGeom>
          <a:solidFill>
            <a:srgbClr val="E0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347472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554480"/>
            <a:ext cx="411480" cy="411480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04"/>
                </a:solidFill>
                <a:latin typeface="Segoe UI"/>
              </a:defRPr>
            </a:pPr>
            <a:r>
              <a:t>GitLab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E85D04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9-stage .gitlab-ci.yml generation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85D04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GitLab server integration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85D04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Artifact &amp; cache management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85D04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Docker-in-Docker pipelines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900">
                <a:solidFill>
                  <a:srgbClr val="8A8A9A"/>
                </a:solidFill>
                <a:latin typeface="Segoe UI"/>
              </a:defRPr>
            </a:pPr>
            <a:r>
              <a:t>13 repos  ·  13 templates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743200" cy="347472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9000" y="1554480"/>
            <a:ext cx="411480" cy="41148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5727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Segoe UI"/>
              </a:defRPr>
            </a:pPr>
            <a:r>
              <a:t>Jenkins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CC3333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9-stage Jenkinsfile generation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CC3333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Multibranch pipeline support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CC3333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Gitea SCM integration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CC3333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Docker agent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2976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900">
                <a:solidFill>
                  <a:srgbClr val="8A8A9A"/>
                </a:solidFill>
                <a:latin typeface="Segoe UI"/>
              </a:defRPr>
            </a:pPr>
            <a:r>
              <a:t>10 repos  ·  10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0D6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1554480"/>
            <a:ext cx="411480" cy="411480"/>
          </a:xfrm>
          <a:prstGeom prst="ellipse">
            <a:avLst/>
          </a:prstGeom>
          <a:solidFill>
            <a:srgbClr val="0D6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727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9D0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D69D0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10-job workflow YAML generation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D69D0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Gitea Actions runner compatible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D69D0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Multi-stage Dockerfile builds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D69D0"/>
                </a:solidFill>
                <a:latin typeface="Segoe UI"/>
              </a:rPr>
              <a:t>▸ </a:t>
            </a:r>
            <a:r>
              <a:rPr sz="1100">
                <a:solidFill>
                  <a:srgbClr val="4A4A5A"/>
                </a:solidFill>
                <a:latin typeface="Segoe UI"/>
              </a:rPr>
              <a:t>Shell-based (no marketplace actions)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976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900">
                <a:solidFill>
                  <a:srgbClr val="8A8A9A"/>
                </a:solidFill>
                <a:latin typeface="Segoe UI"/>
              </a:defRPr>
            </a:pPr>
            <a:r>
              <a:t>10 repos  ·  10 templates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463040" cy="64008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E86A17"/>
                </a:solidFill>
                <a:latin typeface="Segoe UI"/>
              </a:defRPr>
            </a:pPr>
            <a:r>
              <a:t>User</a:t>
            </a:r>
          </a:p>
          <a:p>
            <a:pPr algn="ctr">
              <a:defRPr sz="800" b="0">
                <a:solidFill>
                  <a:srgbClr val="4A4A5A"/>
                </a:solidFill>
                <a:latin typeface="Segoe UI"/>
              </a:defRPr>
            </a:pPr>
            <a:r>
              <a:t>Chat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3800" y="1325880"/>
            <a:ext cx="21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188720"/>
            <a:ext cx="1463040" cy="64008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2E7D32"/>
                </a:solidFill>
                <a:latin typeface="Segoe UI"/>
              </a:defRPr>
            </a:pPr>
            <a:r>
              <a:t>FastAPI</a:t>
            </a:r>
          </a:p>
          <a:p>
            <a:pPr algn="ctr">
              <a:defRPr sz="800" b="0">
                <a:solidFill>
                  <a:srgbClr val="4A4A5A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5440" y="1325880"/>
            <a:ext cx="21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40" y="1188720"/>
            <a:ext cx="1463040" cy="64008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6A1B9A"/>
                </a:solidFill>
                <a:latin typeface="Segoe UI"/>
              </a:defRPr>
            </a:pPr>
            <a:r>
              <a:t>RAG</a:t>
            </a:r>
          </a:p>
          <a:p>
            <a:pPr algn="ctr">
              <a:defRPr sz="800" b="0">
                <a:solidFill>
                  <a:srgbClr val="4A4A5A"/>
                </a:solidFill>
                <a:latin typeface="Segoe UI"/>
              </a:defRPr>
            </a:pPr>
            <a:r>
              <a:t>ChromaDB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7080" y="1325880"/>
            <a:ext cx="21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188720"/>
            <a:ext cx="1463040" cy="64008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F57C00"/>
                </a:solidFill>
                <a:latin typeface="Segoe UI"/>
              </a:defRPr>
            </a:pPr>
            <a:r>
              <a:t>LLM</a:t>
            </a:r>
          </a:p>
          <a:p>
            <a:pPr algn="ctr">
              <a:defRPr sz="800" b="0">
                <a:solidFill>
                  <a:srgbClr val="4A4A5A"/>
                </a:solidFill>
                <a:latin typeface="Segoe UI"/>
              </a:defRPr>
            </a:pPr>
            <a:r>
              <a:t>Ollama/Claude/OpenAI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8720" y="1325880"/>
            <a:ext cx="21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1188720"/>
            <a:ext cx="1463040" cy="64008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E85D04"/>
                </a:solidFill>
                <a:latin typeface="Segoe UI"/>
              </a:defRPr>
            </a:pPr>
            <a:r>
              <a:t>CI Platform</a:t>
            </a:r>
          </a:p>
          <a:p>
            <a:pPr algn="ctr">
              <a:defRPr sz="800" b="0">
                <a:solidFill>
                  <a:srgbClr val="4A4A5A"/>
                </a:solidFill>
                <a:latin typeface="Segoe UI"/>
              </a:defRPr>
            </a:pPr>
            <a:r>
              <a:t>GitLab/Jenkins/Gitea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A17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560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FastAPI · Python 3.11 · httpx · Pydantic 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560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Ollama (qwen3:32b) · Claude (Opus/Sonnet) · OpenAI (GPT-4)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063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RAG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ChromaDB · Sentence Transformers · Vector similarity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063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Git Servers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GitLab CE · Gitea (Jenkins + GitHub Actions)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Registry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Nexus 3 OSS · Docker Registry (port 5001)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SonarQube · Trivy · Semgrep (SAST)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Secrets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HashiCorp Vault · KV-v2 · AppRole auth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Infra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Docker Compose · 31 containers · 5 networks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4572000"/>
            <a:ext cx="1645920" cy="9144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A1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Platform Tools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4572000"/>
            <a:ext cx="1645920" cy="9144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A1B9A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RAG Templates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49040" y="4572000"/>
            <a:ext cx="1645920" cy="9144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Segoe UI"/>
              </a:defRPr>
            </a:pPr>
            <a:r>
              <a:t>18+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Languages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4572000"/>
            <a:ext cx="1645920" cy="9144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Docker Services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23760" y="4572000"/>
            <a:ext cx="1645920" cy="9144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5D0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LLM Providers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1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4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Segoe UI"/>
              </a:defRPr>
            </a:pPr>
            <a:r>
              <a:t>Unified Dashboard — 25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Segoe UI"/>
              </a:defRPr>
            </a:pPr>
            <a:r>
              <a:t>Single-page application with chat-driven interfaces and real-time progress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88920" cy="16002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GitLab Pipeline 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Jenkins Pipeline 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GitHub Actions 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28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AWS CodePipeline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Azure DevOps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788920" cy="16002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61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Segoe UI"/>
              </a:defRPr>
            </a:pPr>
            <a:r>
              <a:t>IaC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Terraform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Ansible Playbooks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28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K8s Manifests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828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CloudFormation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188720"/>
            <a:ext cx="2788920" cy="16002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261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Segoe UI"/>
              </a:defRPr>
            </a:pPr>
            <a: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Incident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Log Analyzer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28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Troubleshooting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828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Knowledge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017520"/>
            <a:ext cx="2788920" cy="16002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090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Segoe UI"/>
              </a:defRPr>
            </a:pPr>
            <a:r>
              <a:t>SRE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383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SLO Calculator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383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Capacity Planner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657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Runbook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657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Segoe UI"/>
              </a:defRPr>
            </a:pPr>
            <a:r>
              <a:t>Postmortem Gen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3017520"/>
            <a:ext cx="2788920" cy="16002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090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A1B9A"/>
                </a:solidFill>
                <a:latin typeface="Segoe UI"/>
              </a:defRPr>
            </a:pPr>
            <a:r>
              <a:t>Auxiliary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383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Connectivity Validator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383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Commit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657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ChromaDB Browser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657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Secret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9319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Dependency Scanner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9319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Release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206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Migration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206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Compliance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A9A"/>
                </a:solidFill>
                <a:latin typeface="Segoe UI"/>
              </a:defRPr>
            </a:pPr>
            <a:r>
              <a:t>* Coming soon    |    Active tools include chat UI, progress tracking, LLM switching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5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9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Chat-Driven Pipeline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Segoe UI"/>
              </a:defRPr>
            </a:pPr>
            <a:r>
              <a:t>Natural language conversation → production-ready CI/CD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234440"/>
            <a:ext cx="365760" cy="36576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52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Provide Repo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User pastes a repository URL in the chat interface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2103120"/>
            <a:ext cx="365760" cy="3657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Analyze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Backend clones repo, detects language, framework, build tool, dependencies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" y="297180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Query RAG Templates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227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ChromaDB searched for matching successful pipeline templates</a:t>
            </a:r>
          </a:p>
        </p:txBody>
      </p:sp>
      <p:sp>
        <p:nvSpPr>
          <p:cNvPr id="48" name="Oval 47"/>
          <p:cNvSpPr/>
          <p:nvPr/>
        </p:nvSpPr>
        <p:spPr>
          <a:xfrm>
            <a:off x="365760" y="3840480"/>
            <a:ext cx="365760" cy="36576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Generate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096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LLM generates .gitlab-ci.yml / Jenkinsfile / workflow YAML + Dockerfile</a:t>
            </a:r>
          </a:p>
        </p:txBody>
      </p:sp>
      <p:sp>
        <p:nvSpPr>
          <p:cNvPr id="63" name="Oval 62"/>
          <p:cNvSpPr/>
          <p:nvPr/>
        </p:nvSpPr>
        <p:spPr>
          <a:xfrm>
            <a:off x="365760" y="470916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4727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Validate &amp; Fix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4965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Automated YAML validation, image verification, iterative LLM self-healing</a:t>
            </a:r>
          </a:p>
        </p:txBody>
      </p:sp>
      <p:sp>
        <p:nvSpPr>
          <p:cNvPr id="78" name="Oval 77"/>
          <p:cNvSpPr/>
          <p:nvPr/>
        </p:nvSpPr>
        <p:spPr>
          <a:xfrm>
            <a:off x="4754880" y="1234440"/>
            <a:ext cx="365760" cy="36576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57800" y="1252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Review &amp; Approve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57800" y="1490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User reviews generated config, approves or requests changes</a:t>
            </a:r>
          </a:p>
        </p:txBody>
      </p:sp>
      <p:sp>
        <p:nvSpPr>
          <p:cNvPr id="93" name="Oval 92"/>
          <p:cNvSpPr/>
          <p:nvPr/>
        </p:nvSpPr>
        <p:spPr>
          <a:xfrm>
            <a:off x="4754880" y="2103120"/>
            <a:ext cx="365760" cy="36576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57800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Commit &amp; Push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5780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Pipeline committed to feature branch via Git API</a:t>
            </a:r>
          </a:p>
        </p:txBody>
      </p:sp>
      <p:sp>
        <p:nvSpPr>
          <p:cNvPr id="108" name="Oval 107"/>
          <p:cNvSpPr/>
          <p:nvPr/>
        </p:nvSpPr>
        <p:spPr>
          <a:xfrm>
            <a:off x="4754880" y="2971800"/>
            <a:ext cx="365760" cy="3657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57800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Monitor Build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57800" y="3227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Real-time build status tracking, auto-triggered by commit</a:t>
            </a:r>
          </a:p>
        </p:txBody>
      </p:sp>
      <p:sp>
        <p:nvSpPr>
          <p:cNvPr id="123" name="Oval 122"/>
          <p:cNvSpPr/>
          <p:nvPr/>
        </p:nvSpPr>
        <p:spPr>
          <a:xfrm>
            <a:off x="4754880" y="38404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257800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Learn on Success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257800" y="4096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Successful pipeline stored in ChromaDB for future RAG retrieval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8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9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95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1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15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2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3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35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4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5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6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7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75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180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190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195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5D04"/>
                </a:solidFill>
                <a:latin typeface="Segoe UI"/>
              </a:defRPr>
            </a:pPr>
            <a:r>
              <a:t>GitLab CI/CD Pipeline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Segoe UI"/>
              </a:defRPr>
            </a:pPr>
            <a:r>
              <a:t>Generates .gitlab-ci.yml + Dockerfile for GitLab CE with Docker-in-Docker runner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49376" cy="411480"/>
          </a:xfrm>
          <a:prstGeom prst="roundRect">
            <a:avLst/>
          </a:prstGeom>
          <a:solidFill>
            <a:srgbClr val="E85D04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Compile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857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9728" y="1097280"/>
            <a:ext cx="849376" cy="411480"/>
          </a:xfrm>
          <a:prstGeom prst="roundRect">
            <a:avLst/>
          </a:prstGeom>
          <a:solidFill>
            <a:srgbClr val="E85D04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0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2256" y="1097280"/>
            <a:ext cx="849376" cy="411480"/>
          </a:xfrm>
          <a:prstGeom prst="roundRect">
            <a:avLst/>
          </a:prstGeom>
          <a:solidFill>
            <a:srgbClr val="E85D04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63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4784" y="1097280"/>
            <a:ext cx="849376" cy="411480"/>
          </a:xfrm>
          <a:prstGeom prst="roundRect">
            <a:avLst/>
          </a:prstGeom>
          <a:solidFill>
            <a:srgbClr val="E85D04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160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7312" y="1097280"/>
            <a:ext cx="849376" cy="411480"/>
          </a:xfrm>
          <a:prstGeom prst="roundRect">
            <a:avLst/>
          </a:prstGeom>
          <a:solidFill>
            <a:srgbClr val="E85D04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SonarQube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8688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9840" y="1097280"/>
            <a:ext cx="849376" cy="411480"/>
          </a:xfrm>
          <a:prstGeom prst="roundRect">
            <a:avLst/>
          </a:prstGeom>
          <a:solidFill>
            <a:srgbClr val="E85D04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Trivy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121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2368" y="1097280"/>
            <a:ext cx="849376" cy="411480"/>
          </a:xfrm>
          <a:prstGeom prst="roundRect">
            <a:avLst/>
          </a:prstGeom>
          <a:solidFill>
            <a:srgbClr val="E85D04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374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4896" y="1097280"/>
            <a:ext cx="849376" cy="411480"/>
          </a:xfrm>
          <a:prstGeom prst="roundRect">
            <a:avLst/>
          </a:prstGeom>
          <a:solidFill>
            <a:srgbClr val="E85D04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Notify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627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37424" y="1097280"/>
            <a:ext cx="849376" cy="411480"/>
          </a:xfrm>
          <a:prstGeom prst="roundRect">
            <a:avLst/>
          </a:prstGeom>
          <a:solidFill>
            <a:srgbClr val="E85D04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Learn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5D04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E85D04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Language auto-detection (Java, Python, Go, Node.js, Ruby, Rust, .NET)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E85D04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Framework-aware generation (Spring Boot, FastAPI, Gin, Express, etc.)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E85D04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DinD network isolation — pre-built Nexus images, no apk/apt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E85D04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RAG priority: language+framework+build_tool match first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E85D04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Iterative LLM self-healing with error pattern matching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E85D04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Automatic pipeline learning on successful builds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E85D04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Splunk + Jira notifications on failure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5D04"/>
                </a:solidFill>
                <a:latin typeface="Segoe UI"/>
              </a:defRPr>
            </a:pPr>
            <a:r>
              <a:t>Chat Interaction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0" y="2057400"/>
            <a:ext cx="3840480" cy="5943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83480" y="20848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6A17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83480" y="2240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Generate a pipeline for</a:t>
            </a:r>
            <a:br/>
            <a:r>
              <a:t>http://gitlab-server/ai-pipeline-</a:t>
            </a:r>
            <a:br/>
            <a:r>
              <a:t>projects/java-springboot-api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2715768"/>
            <a:ext cx="3840480" cy="5943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80" y="2743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83480" y="28986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Analyzing repository...</a:t>
            </a:r>
            <a:br/>
            <a:r>
              <a:t>Detected: Java · Spring Boot · Maven</a:t>
            </a:r>
            <a:br/>
            <a:r>
              <a:t>Querying RAG templates...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3374136"/>
            <a:ext cx="3840480" cy="5943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34015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3480" y="35570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Pipeline generated! 9 stages</a:t>
            </a:r>
            <a:br/>
            <a:r>
              <a:t>Source: RAG template match</a:t>
            </a:r>
            <a:br/>
            <a:r>
              <a:t>[Approve] [Modify] [Reject]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46320" y="4032504"/>
            <a:ext cx="3840480" cy="5943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40599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6A17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83480" y="42153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Approve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46320" y="4690872"/>
            <a:ext cx="3840480" cy="5943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3480" y="47183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83480" y="48737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Committed to feature branch.</a:t>
            </a:r>
            <a:br/>
            <a:r>
              <a:t>Build running... all 9 stages passed ✓</a:t>
            </a:r>
            <a:br/>
            <a:r>
              <a:t>Template saved to ChromaDB.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8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3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6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9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22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C3333"/>
                </a:solidFill>
                <a:latin typeface="Segoe UI"/>
              </a:defRPr>
            </a:pPr>
            <a:r>
              <a:t>Jenkins Pipeline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Segoe UI"/>
              </a:defRPr>
            </a:pPr>
            <a:r>
              <a:t>Generates Jenkinsfile + Dockerfile for declarative multibranch pipelines with Docker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49376" cy="411480"/>
          </a:xfrm>
          <a:prstGeom prst="roundRect">
            <a:avLst/>
          </a:prstGeom>
          <a:solidFill>
            <a:srgbClr val="CC3333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Compile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857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9728" y="1097280"/>
            <a:ext cx="849376" cy="411480"/>
          </a:xfrm>
          <a:prstGeom prst="roundRect">
            <a:avLst/>
          </a:prstGeom>
          <a:solidFill>
            <a:srgbClr val="CC3333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Build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0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2256" y="1097280"/>
            <a:ext cx="849376" cy="411480"/>
          </a:xfrm>
          <a:prstGeom prst="roundRect">
            <a:avLst/>
          </a:prstGeom>
          <a:solidFill>
            <a:srgbClr val="CC3333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Test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63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4784" y="1097280"/>
            <a:ext cx="849376" cy="411480"/>
          </a:xfrm>
          <a:prstGeom prst="roundRect">
            <a:avLst/>
          </a:prstGeom>
          <a:solidFill>
            <a:srgbClr val="CC3333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Static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160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7312" y="1097280"/>
            <a:ext cx="849376" cy="411480"/>
          </a:xfrm>
          <a:prstGeom prst="roundRect">
            <a:avLst/>
          </a:prstGeom>
          <a:solidFill>
            <a:srgbClr val="CC3333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SonarQube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8688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9840" y="1097280"/>
            <a:ext cx="849376" cy="411480"/>
          </a:xfrm>
          <a:prstGeom prst="roundRect">
            <a:avLst/>
          </a:prstGeom>
          <a:solidFill>
            <a:srgbClr val="CC3333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Trivy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121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2368" y="1097280"/>
            <a:ext cx="849376" cy="411480"/>
          </a:xfrm>
          <a:prstGeom prst="roundRect">
            <a:avLst/>
          </a:prstGeom>
          <a:solidFill>
            <a:srgbClr val="CC3333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Push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374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4896" y="1097280"/>
            <a:ext cx="849376" cy="411480"/>
          </a:xfrm>
          <a:prstGeom prst="roundRect">
            <a:avLst/>
          </a:prstGeom>
          <a:solidFill>
            <a:srgbClr val="CC3333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Notify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627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37424" y="1097280"/>
            <a:ext cx="849376" cy="411480"/>
          </a:xfrm>
          <a:prstGeom prst="roundRect">
            <a:avLst/>
          </a:prstGeom>
          <a:solidFill>
            <a:srgbClr val="CC3333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Learn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CC3333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Declarative Jenkinsfile with Docker agent label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CC3333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Gitea SCM integration (not GitLab)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CC3333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Multibranch pipeline auto-discovery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CC3333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Credential management via Jenkins credential store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CC3333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Pattern-based URL detection in chat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CC3333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Background build monitoring with auto-learning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CC3333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Branch scan trigger on new commits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  <a:latin typeface="Segoe UI"/>
              </a:defRPr>
            </a:pPr>
            <a:r>
              <a:t>Jenkins Architecture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0" y="2103120"/>
            <a:ext cx="3840480" cy="3657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83480" y="2148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Segoe UI"/>
              </a:defRPr>
            </a:pPr>
            <a:r>
              <a:t>Git Server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Gitea (gitea-server:3000)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2542032"/>
            <a:ext cx="3840480" cy="3657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80" y="2587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Segoe UI"/>
              </a:defRPr>
            </a:pPr>
            <a:r>
              <a:t>Organization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2587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jenkins-projects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2980944"/>
            <a:ext cx="3840480" cy="3657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30266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Segoe UI"/>
              </a:defRPr>
            </a:pPr>
            <a:r>
              <a:t>Build Agents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30266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3 Docker agents with docker label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46320" y="3419856"/>
            <a:ext cx="3840480" cy="3657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34655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Segoe UI"/>
              </a:defRPr>
            </a:pPr>
            <a:r>
              <a:t>Registry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34655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Nexus at localhost:5001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46320" y="3858768"/>
            <a:ext cx="3840480" cy="3657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3480" y="3904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3904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Real-time build status polling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46320" y="4297680"/>
            <a:ext cx="3840480" cy="36576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83480" y="4343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Segoe UI"/>
              </a:defRPr>
            </a:pPr>
            <a:r>
              <a:t>Context Path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4343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/jenkins (JENKINS_OPTS)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8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2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4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6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8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6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69D0"/>
                </a:solidFill>
                <a:latin typeface="Segoe UI"/>
              </a:defRPr>
            </a:pPr>
            <a:r>
              <a:t>GitHub Actions Pipeline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Segoe UI"/>
              </a:defRPr>
            </a:pPr>
            <a:r>
              <a:t>Generates workflow YAML + Dockerfile for Gitea Actions runner (GitHub Actions compatible)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Compile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323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7475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6598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17750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6873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8025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Static</a:t>
            </a:r>
            <a:br/>
            <a: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7148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8300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SonarQube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742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6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Trivy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699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38851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797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9126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Notify 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8249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9401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Notify 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852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9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9676" y="1097280"/>
            <a:ext cx="757123" cy="411480"/>
          </a:xfrm>
          <a:prstGeom prst="roundRect">
            <a:avLst/>
          </a:prstGeom>
          <a:solidFill>
            <a:srgbClr val="0D69D0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Learn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69D0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201168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D69D0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Gitea Actions runner (Alpine-based act_runner)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D69D0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Shell-based checkout (no actions/checkout — cache corruption fix)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D69D0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Token-authenticated git clone for private repos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D69D0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No Docker marketplace actions — shell docker build/push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D69D0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Multi-stage Dockerfiles (no artifact passing support)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D69D0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wget instead of curl (Alpine runner limitation)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D69D0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Default templates preferred over LLM for known languages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D69D0"/>
                </a:solidFill>
                <a:latin typeface="Segoe UI"/>
              </a:rPr>
              <a:t>▸ </a:t>
            </a:r>
            <a:r>
              <a:rPr sz="1000">
                <a:solidFill>
                  <a:srgbClr val="4A4A5A"/>
                </a:solidFill>
                <a:latin typeface="Segoe UI"/>
              </a:rPr>
              <a:t>E2E verified: 10 repos × 10 jobs all passing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69D0"/>
                </a:solidFill>
                <a:latin typeface="Segoe UI"/>
              </a:defRPr>
            </a:pPr>
            <a:r>
              <a:t>Gitea Actions Adaptations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46320" y="2103120"/>
            <a:ext cx="3840480" cy="475488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83480" y="21214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69D0"/>
                </a:solidFill>
                <a:latin typeface="Segoe UI"/>
              </a:defRPr>
            </a:pPr>
            <a:r>
              <a:t>No Artifacts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21214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Multi-stage Docker builds instead of</a:t>
            </a:r>
            <a:br/>
            <a:r>
              <a:t>upload-artifact/download-artifact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2651760"/>
            <a:ext cx="3840480" cy="475488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26700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69D0"/>
                </a:solidFill>
                <a:latin typeface="Segoe UI"/>
              </a:defRPr>
            </a:pPr>
            <a:r>
              <a:t>No Docker Actions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267004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Shell docker build/push replaces</a:t>
            </a:r>
            <a:br/>
            <a:r>
              <a:t>docker/build-push-action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46320" y="3200400"/>
            <a:ext cx="3840480" cy="475488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3218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69D0"/>
                </a:solidFill>
                <a:latin typeface="Segoe UI"/>
              </a:defRPr>
            </a:pPr>
            <a:r>
              <a:t>Runner Cache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321868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Shell git clone avoids stale</a:t>
            </a:r>
            <a:br/>
            <a:r>
              <a:t>actions/checkout v4 cache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46320" y="3749040"/>
            <a:ext cx="3840480" cy="475488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3480" y="37673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69D0"/>
                </a:solidFill>
                <a:latin typeface="Segoe UI"/>
              </a:defRPr>
            </a:pPr>
            <a:r>
              <a:t>Docker Networking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55080" y="376732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localhost:5001 for registry</a:t>
            </a:r>
            <a:br/>
            <a:r>
              <a:t>(host daemon, not container DNS)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46320" y="4297680"/>
            <a:ext cx="3840480" cy="475488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0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83480" y="4315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69D0"/>
                </a:solidFill>
                <a:latin typeface="Segoe UI"/>
              </a:defRPr>
            </a:pPr>
            <a:r>
              <a:t>YAML on: fix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55080" y="431596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Segoe UI"/>
              </a:defRPr>
            </a:pPr>
            <a:r>
              <a:t>Post-process yaml.dump to restore</a:t>
            </a:r>
            <a:br/>
            <a:r>
              <a:t>'on:' key from boolean 'true:'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2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8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2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4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6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8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A1B9A"/>
                </a:solidFill>
                <a:latin typeface="Segoe UI"/>
              </a:defRPr>
            </a:pPr>
            <a:r>
              <a:t>RAG Learning Loop — Self-Improving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Segoe UI"/>
              </a:defRPr>
            </a:pPr>
            <a:r>
              <a:t>Every successful pipeline build becomes a template for future generations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560320" cy="100584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Segoe UI"/>
              </a:defRPr>
            </a:pPr>
            <a:r>
              <a:t>1. 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LLM creates pipeline config</a:t>
            </a:r>
            <a:br/>
            <a:r>
              <a:t>from repo analysis + RAG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2560320" cy="100584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Segoe UI"/>
              </a:defRPr>
            </a:pPr>
            <a:r>
              <a:t>2.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YAML syntax, image availability,</a:t>
            </a:r>
            <a:br/>
            <a:r>
              <a:t>stage structure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63040"/>
            <a:ext cx="2560320" cy="100584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Segoe UI"/>
              </a:defRPr>
            </a:pPr>
            <a:r>
              <a:t>3.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Push to feature branch</a:t>
            </a:r>
            <a:br/>
            <a:r>
              <a:t>via Git API (GitLab/Gitea)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26080"/>
            <a:ext cx="2560320" cy="100584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Segoe UI"/>
              </a:defRPr>
            </a:pPr>
            <a:r>
              <a:t>4.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91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CI platform executes pipeline</a:t>
            </a:r>
            <a:br/>
            <a:r>
              <a:t>Real-time status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926080"/>
            <a:ext cx="2560320" cy="100584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A1B9A"/>
                </a:solidFill>
                <a:latin typeface="Segoe UI"/>
              </a:defRPr>
            </a:pPr>
            <a:r>
              <a:t>5. 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91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On success → store in ChromaDB</a:t>
            </a:r>
            <a:br/>
            <a:r>
              <a:t>with metadata + embeddings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926080"/>
            <a:ext cx="2560320" cy="100584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Segoe UI"/>
              </a:defRPr>
            </a:pPr>
            <a:r>
              <a:t>6. Retrieve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91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Next generation queries ChromaDB</a:t>
            </a:r>
            <a:br/>
            <a:r>
              <a:t>for best-match 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Segoe UI"/>
              </a:defRPr>
            </a:pPr>
            <a:r>
              <a:t>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297680"/>
            <a:ext cx="8412480" cy="77724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3708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A1B9A"/>
                </a:solidFill>
                <a:latin typeface="Segoe UI"/>
              </a:defRPr>
            </a:pPr>
            <a:r>
              <a:t>ChromaDB Collections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645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Consolas"/>
              </a:defRPr>
            </a:pPr>
            <a:r>
              <a:t>gitlab_successful_pipelines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800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Segoe UI"/>
              </a:defRPr>
            </a:pPr>
            <a:r>
              <a:t>13 templates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645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Consolas"/>
              </a:defRPr>
            </a:pPr>
            <a:r>
              <a:t>jenkins_successful_pipelines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800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Segoe UI"/>
              </a:defRPr>
            </a:pPr>
            <a:r>
              <a:t>10 templates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645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5A"/>
                </a:solidFill>
                <a:latin typeface="Consolas"/>
              </a:defRPr>
            </a:pPr>
            <a:r>
              <a:t>github_actions_successful_pipelines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800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Segoe UI"/>
              </a:defRPr>
            </a:pPr>
            <a:r>
              <a:t>10 templates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22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7D32"/>
                </a:solidFill>
                <a:latin typeface="Segoe UI"/>
              </a:defRPr>
            </a:pPr>
            <a:r>
              <a:t>Validation &amp; LLM Self-Healing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Segoe UI"/>
              </a:defRPr>
            </a:pPr>
            <a:r>
              <a:t>Multi-layer validation with automatic error correction before any pipeline reaches 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8412480" cy="118872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Segoe UI"/>
              </a:defRPr>
            </a:pPr>
            <a:r>
              <a:t>Layer 1: Static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YAML/Groovy syntax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84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Required stages verification (compile → 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642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Docker image reference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84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Environment variable completeness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43200"/>
            <a:ext cx="8412480" cy="118872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Segoe UI"/>
              </a:defRPr>
            </a:pPr>
            <a:r>
              <a:t>Layer 2: Image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27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Public-to-Nexus image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Registry connectivity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27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Base image availability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47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Version compatibility (e.g. rust:1.93-slim)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8412480" cy="118872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A1B9A"/>
                </a:solidFill>
                <a:latin typeface="Segoe UI"/>
              </a:defRPr>
            </a:pPr>
            <a:r>
              <a:t>Layer 3: LLM Self-Healing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90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Error pattern detection (40+ patterns)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103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LLM receives error + pipeline +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90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Iterative fix (up to 3 attempts)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9103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Segoe UI"/>
              </a:defRPr>
            </a:pPr>
            <a:r>
              <a:t>▸ Patterns: TLS errors, missing deps, syntax, artifact size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7D32"/>
                </a:solidFill>
                <a:latin typeface="Segoe UI"/>
              </a:defRPr>
            </a:pPr>
            <a:r>
              <a:t>18+ Languages &amp;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Segoe UI"/>
              </a:defRPr>
            </a:pPr>
            <a:r>
              <a:t>Auto-detected from repository analysis with pre-built Nexus images for air-gapped DinD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Build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Base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8412480" cy="12700"/>
          </a:xfrm>
          <a:prstGeom prst="rect">
            <a:avLst/>
          </a:prstGeom>
          <a:solidFill>
            <a:srgbClr val="E0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417320"/>
            <a:ext cx="8503920" cy="274320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4447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Maven / Gradle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4447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Spring Boot, Quarkus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4475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maven:3.9-eclipse-temurin-17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719072"/>
            <a:ext cx="8503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74650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Kotlin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74650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Gradle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174650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Ktor, Spring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74650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gradle:8.7-jdk17-alpine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020824"/>
            <a:ext cx="8503920" cy="274320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04825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Scala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048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sbt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048256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Play, Akka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048256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sbt:1.9-eclipse-temurin-17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2322576"/>
            <a:ext cx="8503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35000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235000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pip / poetry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35000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FastAPI, Django, Flask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35000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python:3.11-slim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2624328"/>
            <a:ext cx="8503920" cy="274320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65176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JavaScript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265176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npm / yarn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651760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Express, React, 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265176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node:20-alpine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2926080"/>
            <a:ext cx="8503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95351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295351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npm / yarn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295351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NestJS, Deno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95351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node:20-alpine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3227832"/>
            <a:ext cx="8503920" cy="274320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2552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325526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go mod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325526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Gin, Echo, Fiber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325526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golang:1.22-alpine-git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3529584"/>
            <a:ext cx="8503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55701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Rust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35570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cargo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3557016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Actix, Axum, Rocket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3557016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rust:1.93-slim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3831336"/>
            <a:ext cx="8503920" cy="274320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85876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Ruby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38587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bundler / gem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0" y="385876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Rails, Sinatra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385876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ruby:3.3-alpine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0040" y="4133088"/>
            <a:ext cx="8503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16052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PHP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45920" y="41605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composer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4160520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Laravel, Symfony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416052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php:8.3-fpm-alpine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0040" y="4434840"/>
            <a:ext cx="8503920" cy="274320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44622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C# / .NET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45920" y="446227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dotnet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446227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ASP.NET, Blazor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0" y="446227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dotnet-aspnet:8.0-alpine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" y="4736592"/>
            <a:ext cx="8503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4764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Perl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45920" y="476402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cpanm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08960" y="47640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5A"/>
                </a:solidFill>
                <a:latin typeface="Segoe UI"/>
              </a:defRPr>
            </a:pPr>
            <a:r>
              <a:t>Mojolicious, Dancer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0" y="476402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  <a:latin typeface="Consolas"/>
              </a:defRPr>
            </a:pPr>
            <a:r>
              <a:t>perl:5.38-slim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A9A"/>
                </a:solidFill>
                <a:latin typeface="Segoe UI"/>
              </a:defRPr>
            </a:pPr>
            <a:r>
              <a:t>All images pre-built and pushed to Nexus for air-gapped DinD execution  |  LLM can generate for any language beyond this list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1A2E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468880"/>
            <a:ext cx="2743200" cy="381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4A5A"/>
                </a:solidFill>
                <a:latin typeface="Segoe UI"/>
              </a:defRPr>
            </a:pPr>
            <a:r>
              <a:t>Generating pipelines across all three platforms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291840"/>
            <a:ext cx="5486400" cy="4572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65960" y="3346704"/>
            <a:ext cx="320040" cy="320040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5D04"/>
                </a:solidFill>
                <a:latin typeface="Segoe UI"/>
              </a:defRPr>
            </a:pPr>
            <a:r>
              <a:t>GitLab CI/CD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64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Segoe UI"/>
              </a:defRPr>
            </a:pPr>
            <a:r>
              <a:t>Java Spring Boot API → .gitlab-ci.yml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886200"/>
            <a:ext cx="5486400" cy="4572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65960" y="3941064"/>
            <a:ext cx="320040" cy="32004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3333"/>
                </a:solidFill>
                <a:latin typeface="Segoe UI"/>
              </a:defRPr>
            </a:pPr>
            <a:r>
              <a:t>Jenkins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959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Segoe UI"/>
              </a:defRPr>
            </a:pPr>
            <a:r>
              <a:t>Python FastAPI Service → Jenkinsfile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480560"/>
            <a:ext cx="5486400" cy="45720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0D6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65960" y="4535424"/>
            <a:ext cx="320040" cy="320040"/>
          </a:xfrm>
          <a:prstGeom prst="ellipse">
            <a:avLst/>
          </a:prstGeom>
          <a:solidFill>
            <a:srgbClr val="0D6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69D0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553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Segoe UI"/>
              </a:defRPr>
            </a:pPr>
            <a:r>
              <a:t>Go Gin API → workflow YAML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Segoe UI"/>
              </a:defRPr>
            </a:pPr>
            <a:r>
              <a:t>Platform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8A9A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5D04"/>
                </a:solidFill>
                <a:latin typeface="Segoe UI"/>
              </a:defRPr>
            </a:pPr>
            <a:r>
              <a:t>GitLab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3333"/>
                </a:solidFill>
                <a:latin typeface="Segoe UI"/>
              </a:defRPr>
            </a:pPr>
            <a:r>
              <a:t>Jenkins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69D0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8412480" cy="347472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Pipeline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371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.gitlab-ci.yml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Jenkinsfile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371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workflow 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09928"/>
            <a:ext cx="84124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556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Git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755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GitLab 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55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Gitea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755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Gitea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093976"/>
            <a:ext cx="8412480" cy="347472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396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Runner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Docker-in-Docker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Docker Agents (×3)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act_runner (Alpine)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478024"/>
            <a:ext cx="84124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237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Pipeline Stages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25237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9 stages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5237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9 stages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5237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10 jobs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2862072"/>
            <a:ext cx="8412480" cy="347472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29077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Nexus (ai-nexus:5001)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9077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Nexus (localhost:5001)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9077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Nexus (localhost:5001)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3246120"/>
            <a:ext cx="84124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91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Checkout 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291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GitLab CI built-in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291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SCM plugin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91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Shell git clone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630168"/>
            <a:ext cx="8412480" cy="347472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758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Artifact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36758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GitLab artifacts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36758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Stash/unstash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6758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Multi-stage Dockerfile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014216"/>
            <a:ext cx="84124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0599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Chat Interface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4059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Ollama tool-calling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059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Pattern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059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Pattern detection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4398264"/>
            <a:ext cx="8412480" cy="347472"/>
          </a:xfrm>
          <a:prstGeom prst="round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4439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LLM Self-Heal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44439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3 iterations max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4439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3 iterations max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44439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3 iterations max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4782312"/>
            <a:ext cx="84124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828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RAG Templates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13 in ChromaDB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10 in ChromaDB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4A5A"/>
                </a:solidFill>
                <a:latin typeface="Segoe UI"/>
              </a:defRPr>
            </a:pPr>
            <a:r>
              <a:t>10 in ChromaDB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1A2E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94560"/>
            <a:ext cx="2743200" cy="381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4A5A"/>
                </a:solidFill>
                <a:latin typeface="Segoe UI"/>
              </a:defRPr>
            </a:pPr>
            <a:r>
              <a:t>AI-Powered DevOps Pipeline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200400"/>
            <a:ext cx="1554480" cy="109728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A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CI/CD</a:t>
            </a:r>
            <a:br/>
            <a:r>
              <a:t>Platforms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200400"/>
            <a:ext cx="1554480" cy="109728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Segoe UI"/>
              </a:defRPr>
            </a:pPr>
            <a:r>
              <a:t>33+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Managed</a:t>
            </a:r>
            <a:br/>
            <a:r>
              <a:t>Repositories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200400"/>
            <a:ext cx="1554480" cy="109728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A1B9A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RAG</a:t>
            </a:r>
            <a:br/>
            <a:r>
              <a:t>Templates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200400"/>
            <a:ext cx="1554480" cy="1097280"/>
          </a:xfrm>
          <a:prstGeom prst="roundRect">
            <a:avLst/>
          </a:prstGeom>
          <a:solidFill>
            <a:srgbClr val="FBF5E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9-10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  <a:latin typeface="Segoe UI"/>
              </a:defRPr>
            </a:pPr>
            <a:r>
              <a:t>Pipeline</a:t>
            </a:r>
            <a:br/>
            <a:r>
              <a:t>Stages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572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A9A"/>
                </a:solidFill>
                <a:latin typeface="Consolas"/>
              </a:defRPr>
            </a:pPr>
            <a:r>
              <a:t>Backend: http://localhost:8003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A9A"/>
                </a:solidFill>
                <a:latin typeface="Consolas"/>
              </a:defRPr>
            </a:pPr>
            <a:r>
              <a:t>GitLab: http://localhost:8929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029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A9A"/>
                </a:solidFill>
                <a:latin typeface="Consolas"/>
              </a:defRPr>
            </a:pPr>
            <a:r>
              <a:t>Jenkins: http://localhost:8080/jenkins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257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A9A"/>
                </a:solidFill>
                <a:latin typeface="Consolas"/>
              </a:defRPr>
            </a:pPr>
            <a:r>
              <a:t>Gitea: http://localhost:3002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